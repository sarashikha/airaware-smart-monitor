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59" r:id="rId6"/>
    <p:sldId id="373" r:id="rId7"/>
    <p:sldId id="374" r:id="rId8"/>
    <p:sldId id="375" r:id="rId9"/>
    <p:sldId id="378" r:id="rId10"/>
    <p:sldId id="3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3" autoAdjust="0"/>
    <p:restoredTop sz="88655" autoAdjust="0"/>
  </p:normalViewPr>
  <p:slideViewPr>
    <p:cSldViewPr snapToGrid="0" snapToObjects="1" showGuides="1">
      <p:cViewPr>
        <p:scale>
          <a:sx n="66" d="100"/>
          <a:sy n="66" d="100"/>
        </p:scale>
        <p:origin x="488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85" y="121919"/>
            <a:ext cx="10041861" cy="3215641"/>
          </a:xfrm>
        </p:spPr>
        <p:txBody>
          <a:bodyPr anchor="b"/>
          <a:lstStyle/>
          <a:p>
            <a:r>
              <a:rPr lang="en-US" sz="4800" i="0" dirty="0">
                <a:solidFill>
                  <a:srgbClr val="FFFFFF"/>
                </a:solidFill>
                <a:effectLst/>
                <a:latin typeface=".SFUI-Regular"/>
              </a:rPr>
              <a:t>AirAware - Real-Time IoT Air Monitoring</a:t>
            </a:r>
            <a:br>
              <a:rPr lang="en-US" sz="4800" dirty="0">
                <a:solidFill>
                  <a:srgbClr val="FFFFFF"/>
                </a:solidFill>
                <a:effectLst/>
                <a:latin typeface=".AppleSystemUIFont"/>
              </a:rPr>
            </a:br>
            <a:endParaRPr lang="en-US" sz="4800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7453" y="3520440"/>
            <a:ext cx="8757093" cy="1736769"/>
          </a:xfrm>
        </p:spPr>
        <p:txBody>
          <a:bodyPr/>
          <a:lstStyle/>
          <a:p>
            <a:pPr rtl="1"/>
            <a:r>
              <a:rPr lang="he-IL" sz="2300" b="0" i="0" dirty="0">
                <a:solidFill>
                  <a:srgbClr val="FFFFFF"/>
                </a:solidFill>
                <a:effectLst/>
                <a:latin typeface=".SFUI-Regular"/>
              </a:rPr>
              <a:t>פיתוח מערכת ניטור חכמה מבוססת   </a:t>
            </a:r>
            <a:r>
              <a:rPr lang="en-US" sz="2300" b="0" i="0" dirty="0">
                <a:solidFill>
                  <a:srgbClr val="FFFFFF"/>
                </a:solidFill>
                <a:effectLst/>
                <a:latin typeface=".SFUI-Regular"/>
              </a:rPr>
              <a:t>Raspberry Pi 3 </a:t>
            </a:r>
            <a:r>
              <a:rPr lang="he-IL" sz="2300" b="0" i="0" dirty="0">
                <a:solidFill>
                  <a:srgbClr val="FFFFFF"/>
                </a:solidFill>
                <a:effectLst/>
                <a:latin typeface=".SFUI-Regular"/>
              </a:rPr>
              <a:t> ו-</a:t>
            </a:r>
            <a:r>
              <a:rPr lang="en-US" sz="2300" b="0" i="0" dirty="0">
                <a:solidFill>
                  <a:srgbClr val="FFFFFF"/>
                </a:solidFill>
                <a:effectLst/>
                <a:latin typeface=".SFUI-Regular"/>
              </a:rPr>
              <a:t>Firebase Cloud</a:t>
            </a:r>
            <a:r>
              <a:rPr lang="he-IL" sz="2300" b="0" i="0" dirty="0">
                <a:solidFill>
                  <a:srgbClr val="FFFFFF"/>
                </a:solidFill>
                <a:effectLst/>
                <a:latin typeface=".SFUI-Regular"/>
              </a:rPr>
              <a:t>.</a:t>
            </a:r>
            <a:endParaRPr lang="en-US" sz="2300" dirty="0">
              <a:solidFill>
                <a:srgbClr val="FFFFFF"/>
              </a:solidFill>
              <a:effectLst/>
              <a:latin typeface=".AppleSystemUIFon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977CD-13C4-A38B-F6C6-D86DC3943752}"/>
              </a:ext>
            </a:extLst>
          </p:cNvPr>
          <p:cNvSpPr txBox="1"/>
          <p:nvPr/>
        </p:nvSpPr>
        <p:spPr>
          <a:xfrm>
            <a:off x="5204691" y="252037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85" y="1"/>
            <a:ext cx="5771115" cy="2215116"/>
          </a:xfrm>
        </p:spPr>
        <p:txBody>
          <a:bodyPr/>
          <a:lstStyle/>
          <a:p>
            <a:pPr algn="thaiDist" rtl="1"/>
            <a:r>
              <a:rPr lang="he-IL" b="1" i="0" dirty="0">
                <a:solidFill>
                  <a:srgbClr val="FFFFFF"/>
                </a:solidFill>
                <a:effectLst/>
                <a:latin typeface=".SFUI-Semibold"/>
              </a:rPr>
              <a:t>המטרה והצורך (</a:t>
            </a:r>
            <a:r>
              <a:rPr lang="en-IL" b="1" i="0" dirty="0">
                <a:solidFill>
                  <a:srgbClr val="FFFFFF"/>
                </a:solidFill>
                <a:effectLst/>
                <a:latin typeface=".SFUI-Semibold"/>
              </a:rPr>
              <a:t>(</a:t>
            </a:r>
            <a:r>
              <a:rPr lang="en-US" b="1" i="0" dirty="0">
                <a:solidFill>
                  <a:srgbClr val="FFFFFF"/>
                </a:solidFill>
                <a:effectLst/>
                <a:latin typeface=".SFUI-Semibold"/>
              </a:rPr>
              <a:t>The Goal</a:t>
            </a:r>
            <a:endParaRPr lang="en-US" dirty="0">
              <a:solidFill>
                <a:srgbClr val="FFFFFF"/>
              </a:solidFill>
              <a:effectLst/>
              <a:latin typeface=".AppleSystemUIFont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4885" y="2923953"/>
            <a:ext cx="5771115" cy="3540642"/>
          </a:xfrm>
        </p:spPr>
        <p:txBody>
          <a:bodyPr anchor="t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b="0" i="0" dirty="0">
                <a:solidFill>
                  <a:srgbClr val="FFFFFF"/>
                </a:solidFill>
                <a:effectLst/>
                <a:latin typeface=".SFUI-Regular"/>
              </a:rPr>
              <a:t>ניטור רציף של טמפרטורה ולחות בסביבות רגישות.</a:t>
            </a:r>
            <a:endParaRPr lang="en-IL" b="0" i="0" dirty="0">
              <a:solidFill>
                <a:srgbClr val="FFFFFF"/>
              </a:solidFill>
              <a:latin typeface=".AppleSystemUIFont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b="0" i="0" dirty="0">
                <a:solidFill>
                  <a:srgbClr val="FFFFFF"/>
                </a:solidFill>
                <a:effectLst/>
                <a:latin typeface=".SFUI-Regular"/>
              </a:rPr>
              <a:t>התראות בזמן אמת (</a:t>
            </a:r>
            <a:r>
              <a:rPr lang="en-US" b="0" i="0" dirty="0">
                <a:solidFill>
                  <a:srgbClr val="FFFFFF"/>
                </a:solidFill>
                <a:effectLst/>
                <a:latin typeface=".SFUI-Regular"/>
              </a:rPr>
              <a:t>Real-time Alerts) </a:t>
            </a:r>
            <a:r>
              <a:rPr lang="he-IL" b="0" i="0" dirty="0">
                <a:solidFill>
                  <a:srgbClr val="FFFFFF"/>
                </a:solidFill>
                <a:effectLst/>
                <a:latin typeface=".SFUI-Regular"/>
              </a:rPr>
              <a:t>ללא תלות </a:t>
            </a:r>
            <a:r>
              <a:rPr lang="he-IL" b="0" i="0" dirty="0" err="1">
                <a:solidFill>
                  <a:srgbClr val="FFFFFF"/>
                </a:solidFill>
                <a:effectLst/>
                <a:latin typeface=".SFUI-Regular"/>
              </a:rPr>
              <a:t>ברענון</a:t>
            </a:r>
            <a:r>
              <a:rPr lang="he-IL" b="0" i="0" dirty="0">
                <a:solidFill>
                  <a:srgbClr val="FFFFFF"/>
                </a:solidFill>
                <a:effectLst/>
                <a:latin typeface=".SFUI-Regular"/>
              </a:rPr>
              <a:t> ידני.</a:t>
            </a:r>
            <a:endParaRPr lang="he-IL" dirty="0">
              <a:solidFill>
                <a:srgbClr val="FFFFFF"/>
              </a:solidFill>
              <a:effectLst/>
              <a:latin typeface=".AppleSystemUIFont"/>
            </a:endParaRPr>
          </a:p>
          <a:p>
            <a:pPr algn="r"/>
            <a:r>
              <a:rPr lang="he-IL" b="0" i="0" dirty="0">
                <a:solidFill>
                  <a:srgbClr val="FFFFFF"/>
                </a:solidFill>
                <a:effectLst/>
                <a:latin typeface=".SFUI-Regular"/>
              </a:rPr>
              <a:t>•    נגישות לנתונים מכל מקום בעולם.</a:t>
            </a:r>
          </a:p>
          <a:p>
            <a:pPr algn="r"/>
            <a:endParaRPr lang="he-IL" b="0" i="0" dirty="0">
              <a:solidFill>
                <a:srgbClr val="FFFFFF"/>
              </a:solidFill>
              <a:effectLst/>
              <a:latin typeface=".SFUI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1519867"/>
          </a:xfrm>
        </p:spPr>
        <p:txBody>
          <a:bodyPr/>
          <a:lstStyle/>
          <a:p>
            <a:pPr rtl="1"/>
            <a:r>
              <a:rPr lang="en-IL" b="1" i="0" dirty="0">
                <a:solidFill>
                  <a:srgbClr val="FFFFFF"/>
                </a:solidFill>
                <a:effectLst/>
                <a:latin typeface=".SFUI-Semibold"/>
              </a:rPr>
              <a:t> </a:t>
            </a:r>
            <a:r>
              <a:rPr lang="he-IL" b="1" i="0" dirty="0">
                <a:solidFill>
                  <a:srgbClr val="FFFFFF"/>
                </a:solidFill>
                <a:effectLst/>
                <a:latin typeface=".SFUI-Semibold"/>
              </a:rPr>
              <a:t>ארכיטקטורה טכנולוגית</a:t>
            </a:r>
            <a:r>
              <a:rPr lang="en-IL" b="1" i="0" dirty="0">
                <a:solidFill>
                  <a:srgbClr val="FFFFFF"/>
                </a:solidFill>
                <a:effectLst/>
                <a:latin typeface=".SFUI-Semibold"/>
              </a:rPr>
              <a:t>  (</a:t>
            </a:r>
            <a:r>
              <a:rPr lang="en-US" b="1" i="0" dirty="0">
                <a:solidFill>
                  <a:srgbClr val="FFFFFF"/>
                </a:solidFill>
                <a:effectLst/>
                <a:latin typeface=".SFUI-Semibold"/>
              </a:rPr>
              <a:t>Tech Stack</a:t>
            </a:r>
            <a:r>
              <a:rPr lang="en-IL" b="1" i="0" dirty="0">
                <a:solidFill>
                  <a:srgbClr val="FFFFFF"/>
                </a:solidFill>
                <a:effectLst/>
                <a:latin typeface=".SFUI-Semibold"/>
              </a:rPr>
              <a:t>) </a:t>
            </a:r>
            <a:br>
              <a:rPr lang="en-US" dirty="0">
                <a:solidFill>
                  <a:srgbClr val="FFFFFF"/>
                </a:solidFill>
                <a:effectLst/>
                <a:latin typeface=".AppleSystemUIFon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966BB-4331-174F-BDD9-C84F725DFC97}"/>
              </a:ext>
            </a:extLst>
          </p:cNvPr>
          <p:cNvSpPr txBox="1"/>
          <p:nvPr/>
        </p:nvSpPr>
        <p:spPr>
          <a:xfrm>
            <a:off x="2213268" y="2098987"/>
            <a:ext cx="82993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he-IL" sz="2500" b="1" i="0" dirty="0">
                <a:solidFill>
                  <a:srgbClr val="FFFFFF"/>
                </a:solidFill>
                <a:effectLst/>
                <a:latin typeface=".SFUI-Semibold"/>
              </a:rPr>
              <a:t>חומרה: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Raspberry Pi 3.</a:t>
            </a:r>
            <a:endParaRPr lang="en-US" sz="2500" dirty="0">
              <a:solidFill>
                <a:srgbClr val="FFFFFF"/>
              </a:solidFill>
              <a:effectLst/>
              <a:latin typeface=".AppleSystemUIFont"/>
            </a:endParaRPr>
          </a:p>
          <a:p>
            <a:pPr algn="r" rtl="1"/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he-IL" sz="2500" b="1" i="0" dirty="0">
                <a:solidFill>
                  <a:srgbClr val="FFFFFF"/>
                </a:solidFill>
                <a:effectLst/>
                <a:latin typeface=".SFUI-Semibold"/>
              </a:rPr>
              <a:t>ענן: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Google Firebase </a:t>
            </a:r>
            <a:r>
              <a:rPr lang="en-US" sz="2500" b="0" i="0" dirty="0" err="1">
                <a:solidFill>
                  <a:srgbClr val="FFFFFF"/>
                </a:solidFill>
                <a:effectLst/>
                <a:latin typeface=".SFUI-Regular"/>
              </a:rPr>
              <a:t>Firestore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 (NoSQL).</a:t>
            </a:r>
            <a:endParaRPr lang="en-US" sz="2500" dirty="0">
              <a:solidFill>
                <a:srgbClr val="FFFFFF"/>
              </a:solidFill>
              <a:effectLst/>
              <a:latin typeface=".AppleSystemUIFont"/>
            </a:endParaRPr>
          </a:p>
          <a:p>
            <a:pPr algn="r" rtl="1"/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he-IL" sz="2500" b="1" i="0" dirty="0">
                <a:solidFill>
                  <a:srgbClr val="FFFFFF"/>
                </a:solidFill>
                <a:effectLst/>
                <a:latin typeface=".SFUI-Semibold"/>
              </a:rPr>
              <a:t>ממשק: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 err="1">
                <a:solidFill>
                  <a:srgbClr val="FFFFFF"/>
                </a:solidFill>
                <a:effectLst/>
                <a:latin typeface=".SFUI-Regular"/>
              </a:rPr>
              <a:t>Flet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 (Python Framework).</a:t>
            </a:r>
            <a:endParaRPr lang="en-US" sz="2500" dirty="0">
              <a:solidFill>
                <a:srgbClr val="FFFFFF"/>
              </a:solidFill>
              <a:effectLst/>
              <a:latin typeface=".AppleSystemUIFont"/>
            </a:endParaRPr>
          </a:p>
          <a:p>
            <a:pPr algn="r" rtl="1"/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he-IL" sz="2500" b="1" i="0" dirty="0">
                <a:solidFill>
                  <a:srgbClr val="FFFFFF"/>
                </a:solidFill>
                <a:effectLst/>
                <a:latin typeface=".SFUI-Semibold"/>
              </a:rPr>
              <a:t>התראות: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WhatsApp Web Automation.</a:t>
            </a:r>
            <a:endParaRPr lang="en-US" sz="2500" dirty="0">
              <a:solidFill>
                <a:srgbClr val="FFFFFF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39538"/>
            <a:ext cx="5521386" cy="2986478"/>
          </a:xfrm>
        </p:spPr>
        <p:txBody>
          <a:bodyPr/>
          <a:lstStyle/>
          <a:p>
            <a:r>
              <a:rPr lang="he-IL" sz="3200" b="1" i="0" dirty="0">
                <a:solidFill>
                  <a:srgbClr val="FFFFFF"/>
                </a:solidFill>
                <a:effectLst/>
                <a:latin typeface=".SFUI-Semibold"/>
              </a:rPr>
              <a:t>פתרון בעיות ואופטימיזציה</a:t>
            </a:r>
            <a:br>
              <a:rPr lang="he-IL" sz="3200" b="1" i="0" dirty="0">
                <a:solidFill>
                  <a:srgbClr val="FFFFFF"/>
                </a:solidFill>
                <a:effectLst/>
                <a:latin typeface=".SFUI-Semibold"/>
              </a:rPr>
            </a:br>
            <a:r>
              <a:rPr lang="he-IL" sz="3200" b="1" i="0" dirty="0">
                <a:solidFill>
                  <a:srgbClr val="FFFFFF"/>
                </a:solidFill>
                <a:effectLst/>
                <a:latin typeface=".SFUI-Semibold"/>
              </a:rPr>
              <a:t>)</a:t>
            </a:r>
            <a:r>
              <a:rPr lang="en-US" sz="3200" b="1" i="0" dirty="0">
                <a:solidFill>
                  <a:srgbClr val="FFFFFF"/>
                </a:solidFill>
                <a:effectLst/>
                <a:latin typeface=".SFUI-Semibold"/>
              </a:rPr>
              <a:t>QA &amp; Performance</a:t>
            </a:r>
            <a:r>
              <a:rPr lang="he-IL" sz="3200" b="1" i="0" dirty="0">
                <a:solidFill>
                  <a:srgbClr val="FFFFFF"/>
                </a:solidFill>
                <a:effectLst/>
                <a:latin typeface=".SFUI-Semibold"/>
              </a:rPr>
              <a:t>(</a:t>
            </a:r>
            <a:br>
              <a:rPr lang="en-US" sz="3200" dirty="0">
                <a:solidFill>
                  <a:srgbClr val="FFFFFF"/>
                </a:solidFill>
                <a:effectLst/>
                <a:latin typeface=".AppleSystemUIFont"/>
              </a:rPr>
            </a:br>
            <a:r>
              <a:rPr lang="en-US" sz="3200" dirty="0"/>
              <a:t> 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5521385" y="0"/>
            <a:ext cx="6670615" cy="6858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226861-12C5-DFCC-989B-801F23226A10}"/>
              </a:ext>
            </a:extLst>
          </p:cNvPr>
          <p:cNvSpPr txBox="1"/>
          <p:nvPr/>
        </p:nvSpPr>
        <p:spPr>
          <a:xfrm>
            <a:off x="492642" y="1946940"/>
            <a:ext cx="956930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lang="en-IL" sz="2500" b="1" i="0" dirty="0">
                <a:solidFill>
                  <a:srgbClr val="FFFFFF"/>
                </a:solidFill>
                <a:effectLst/>
                <a:latin typeface=".SFUI-Semibold"/>
              </a:rPr>
              <a:t> :</a:t>
            </a:r>
            <a:r>
              <a:rPr lang="en-US" sz="2500" b="1" i="0" dirty="0">
                <a:solidFill>
                  <a:srgbClr val="FFFFFF"/>
                </a:solidFill>
                <a:effectLst/>
                <a:latin typeface=".SFUI-Semibold"/>
              </a:rPr>
              <a:t>Multithreading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הפרדת ה-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UI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מתהליך ה-</a:t>
            </a:r>
            <a:r>
              <a:rPr lang="en-IL" sz="2500" dirty="0">
                <a:solidFill>
                  <a:srgbClr val="FFFFFF"/>
                </a:solidFill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Firebase 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והווטסאפ למניעת קפיאה.</a:t>
            </a:r>
            <a:endParaRPr lang="he-IL" sz="2500" dirty="0">
              <a:solidFill>
                <a:srgbClr val="FFFFFF"/>
              </a:solidFill>
              <a:effectLst/>
              <a:latin typeface=".AppleSystemUIFont"/>
            </a:endParaRPr>
          </a:p>
          <a:p>
            <a:pPr algn="r" rtl="1">
              <a:spcBef>
                <a:spcPts val="630"/>
              </a:spcBef>
              <a:buNone/>
            </a:pP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 :</a:t>
            </a:r>
            <a:r>
              <a:rPr lang="en-US" sz="2500" b="1" i="0" dirty="0">
                <a:solidFill>
                  <a:srgbClr val="FFFFFF"/>
                </a:solidFill>
                <a:effectLst/>
                <a:latin typeface=".SFUI-Semibold"/>
              </a:rPr>
              <a:t>Lazy Loading: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קיצור זמן עלייה מ-8 שניות ל-4 שניות ע"י טעינה מושהית של ספריות.</a:t>
            </a:r>
            <a:endParaRPr lang="en-IL" sz="2500" b="0" i="0" dirty="0">
              <a:solidFill>
                <a:srgbClr val="FFFFFF"/>
              </a:solidFill>
              <a:effectLst/>
              <a:latin typeface=".SFUI-Regular"/>
            </a:endParaRPr>
          </a:p>
          <a:p>
            <a:pPr algn="r" rtl="1">
              <a:spcBef>
                <a:spcPts val="630"/>
              </a:spcBef>
              <a:buNone/>
            </a:pP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en-IL" sz="2500" dirty="0">
                <a:solidFill>
                  <a:srgbClr val="FFFFFF"/>
                </a:solidFill>
                <a:latin typeface=".SFUI-Regular"/>
              </a:rPr>
              <a:t> 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: </a:t>
            </a:r>
            <a:r>
              <a:rPr lang="en-US" sz="2500" b="1" i="0" dirty="0">
                <a:solidFill>
                  <a:srgbClr val="FFFFFF"/>
                </a:solidFill>
                <a:effectLst/>
                <a:latin typeface=".SFUI-Semibold"/>
              </a:rPr>
              <a:t>Listener Patter</a:t>
            </a:r>
            <a:r>
              <a:rPr lang="en-IL" sz="2500" b="1" dirty="0">
                <a:solidFill>
                  <a:srgbClr val="FFFFFF"/>
                </a:solidFill>
                <a:latin typeface=".SFUI-Semibold"/>
              </a:rPr>
              <a:t>n</a:t>
            </a:r>
            <a:r>
              <a:rPr lang="en-IL" sz="2500" b="1" i="0" dirty="0">
                <a:solidFill>
                  <a:srgbClr val="FFFFFF"/>
                </a:solidFill>
                <a:effectLst/>
                <a:latin typeface=".SFUI-Semibold"/>
              </a:rPr>
              <a:t>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שימוש ב-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on_snapshot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לעדכון יעיל.</a:t>
            </a:r>
          </a:p>
          <a:p>
            <a:pPr marL="342900" indent="-342900" algn="r" rtl="1"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lang="he-IL" sz="2500" b="1" dirty="0">
                <a:solidFill>
                  <a:srgbClr val="FFFFFF"/>
                </a:solidFill>
                <a:latin typeface=".SFUI-Regular"/>
              </a:rPr>
              <a:t>אתגר </a:t>
            </a:r>
            <a:r>
              <a:rPr lang="en-US" sz="2500" b="1" dirty="0">
                <a:solidFill>
                  <a:srgbClr val="FFFFFF"/>
                </a:solidFill>
                <a:latin typeface=".SFUI-Regular"/>
              </a:rPr>
              <a:t> UI LAG </a:t>
            </a:r>
            <a:r>
              <a:rPr lang="he-IL" sz="2500" dirty="0">
                <a:solidFill>
                  <a:srgbClr val="FFFFFF"/>
                </a:solidFill>
                <a:latin typeface=".SFUI-Regular"/>
              </a:rPr>
              <a:t>- זיהוי בעיה שבה הממשק ב-</a:t>
            </a:r>
            <a:r>
              <a:rPr lang="en-US" sz="2500" dirty="0">
                <a:solidFill>
                  <a:srgbClr val="FFFFFF"/>
                </a:solidFill>
                <a:latin typeface=".SFUI-Regular"/>
              </a:rPr>
              <a:t>Windows </a:t>
            </a:r>
            <a:r>
              <a:rPr lang="he-IL" sz="2500" dirty="0">
                <a:solidFill>
                  <a:srgbClr val="FFFFFF"/>
                </a:solidFill>
                <a:latin typeface=".SFUI-Regular"/>
              </a:rPr>
              <a:t>קופא ולא מתרענן.</a:t>
            </a:r>
          </a:p>
          <a:p>
            <a:pPr marL="342900" indent="-342900" algn="r" rtl="1"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lang="he-IL" sz="2500" b="1" i="0" dirty="0">
                <a:solidFill>
                  <a:srgbClr val="FFFFFF"/>
                </a:solidFill>
                <a:effectLst/>
                <a:latin typeface=".SFUI-Regular"/>
              </a:rPr>
              <a:t>דיאגנוזה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: הבנה שהבעיה נובעת מחיסכון באנרגיה של כרטיס המסך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Hardware Acceleration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.</a:t>
            </a:r>
          </a:p>
          <a:p>
            <a:pPr marL="342900" indent="-342900" algn="r" rtl="1"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lang="he-IL" sz="2500" b="1" i="0" dirty="0">
                <a:solidFill>
                  <a:srgbClr val="FFFFFF"/>
                </a:solidFill>
                <a:effectLst/>
                <a:latin typeface=".SFUI-Regular"/>
              </a:rPr>
              <a:t>פתרון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: מעבר ל-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Software Rendering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והפעלת ה-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Dashboard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כשרת </a:t>
            </a:r>
            <a:r>
              <a:rPr lang="en-US" sz="2500" b="0" i="0" dirty="0">
                <a:solidFill>
                  <a:srgbClr val="FFFFFF"/>
                </a:solidFill>
                <a:effectLst/>
                <a:latin typeface=".SFUI-Regular"/>
              </a:rPr>
              <a:t>Web 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יציב בפורט קבוע.</a:t>
            </a:r>
          </a:p>
          <a:p>
            <a:pPr marL="342900" indent="-342900" algn="r" rtl="1">
              <a:spcBef>
                <a:spcPts val="630"/>
              </a:spcBef>
              <a:buFont typeface="Arial" panose="020B0604020202020204" pitchFamily="34" charset="0"/>
              <a:buChar char="•"/>
            </a:pPr>
            <a:endParaRPr lang="he-IL" sz="2500" b="0" i="0" dirty="0">
              <a:solidFill>
                <a:srgbClr val="FFFFFF"/>
              </a:solidFill>
              <a:effectLst/>
              <a:latin typeface=".SFUI-Regular"/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169293"/>
          </a:xfrm>
        </p:spPr>
        <p:txBody>
          <a:bodyPr/>
          <a:lstStyle/>
          <a:p>
            <a:pPr rtl="1"/>
            <a:r>
              <a:rPr lang="he-IL" b="1" i="0" dirty="0">
                <a:solidFill>
                  <a:srgbClr val="FFFFFF"/>
                </a:solidFill>
                <a:effectLst/>
                <a:latin typeface=".SFUI-Semibold"/>
              </a:rPr>
              <a:t>מנגנון ההתראות </a:t>
            </a:r>
            <a:r>
              <a:rPr lang="he-IL" b="1" i="0" dirty="0" err="1">
                <a:solidFill>
                  <a:srgbClr val="FFFFFF"/>
                </a:solidFill>
                <a:effectLst/>
                <a:latin typeface=".SFUI-Semibold"/>
              </a:rPr>
              <a:t>ואפלקציה</a:t>
            </a:r>
            <a:r>
              <a:rPr lang="he-IL" b="1" i="0" dirty="0">
                <a:solidFill>
                  <a:srgbClr val="FFFFFF"/>
                </a:solidFill>
                <a:effectLst/>
                <a:latin typeface=".SFUI-Semibold"/>
              </a:rPr>
              <a:t> (</a:t>
            </a:r>
            <a:r>
              <a:rPr lang="en-IL" b="1" i="0" dirty="0">
                <a:solidFill>
                  <a:srgbClr val="FFFFFF"/>
                </a:solidFill>
                <a:effectLst/>
                <a:latin typeface=".SFUI-Semibold"/>
              </a:rPr>
              <a:t>(</a:t>
            </a:r>
            <a:r>
              <a:rPr lang="en-US" b="1" i="0" dirty="0">
                <a:solidFill>
                  <a:srgbClr val="FFFFFF"/>
                </a:solidFill>
                <a:effectLst/>
                <a:latin typeface=".SFUI-Semibold"/>
              </a:rPr>
              <a:t>The Alert System</a:t>
            </a:r>
            <a:endParaRPr lang="en-US" dirty="0">
              <a:solidFill>
                <a:srgbClr val="FFFFFF"/>
              </a:solidFill>
              <a:effectLst/>
              <a:latin typeface=".AppleSystemUIFon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1E75B-8B20-345A-1DE4-9326019FA239}"/>
              </a:ext>
            </a:extLst>
          </p:cNvPr>
          <p:cNvSpPr txBox="1"/>
          <p:nvPr/>
        </p:nvSpPr>
        <p:spPr>
          <a:xfrm>
            <a:off x="4627614" y="2448686"/>
            <a:ext cx="60988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dirty="0">
                <a:solidFill>
                  <a:schemeClr val="bg1"/>
                </a:solidFill>
              </a:rPr>
              <a:t>נקודות :</a:t>
            </a:r>
          </a:p>
          <a:p>
            <a:pPr algn="r"/>
            <a:r>
              <a:rPr lang="he-IL" dirty="0">
                <a:solidFill>
                  <a:schemeClr val="bg1"/>
                </a:solidFill>
              </a:rPr>
              <a:t>אלגוריתם זיהוי חריגה </a:t>
            </a:r>
          </a:p>
          <a:p>
            <a:pPr algn="r"/>
            <a:r>
              <a:rPr lang="he-IL" dirty="0">
                <a:solidFill>
                  <a:schemeClr val="bg1"/>
                </a:solidFill>
              </a:rPr>
              <a:t>בודק אם זה מסוכן </a:t>
            </a:r>
          </a:p>
          <a:p>
            <a:pPr algn="r"/>
            <a:r>
              <a:rPr lang="he-IL" dirty="0">
                <a:solidFill>
                  <a:schemeClr val="bg1"/>
                </a:solidFill>
              </a:rPr>
              <a:t>שליחת התראות בזמן אמת </a:t>
            </a:r>
          </a:p>
          <a:p>
            <a:pPr algn="r"/>
            <a:endParaRPr lang="he-IL" dirty="0">
              <a:solidFill>
                <a:schemeClr val="bg1"/>
              </a:solidFill>
            </a:endParaRPr>
          </a:p>
          <a:p>
            <a:pPr algn="r"/>
            <a:r>
              <a:rPr lang="he-IL" b="1" dirty="0" err="1">
                <a:solidFill>
                  <a:schemeClr val="bg1"/>
                </a:solidFill>
              </a:rPr>
              <a:t>אפלקציה</a:t>
            </a:r>
            <a:r>
              <a:rPr lang="he-IL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he-IL" dirty="0">
                <a:solidFill>
                  <a:schemeClr val="bg1"/>
                </a:solidFill>
              </a:rPr>
              <a:t>תצוגת טמפרטורה ישירה</a:t>
            </a:r>
          </a:p>
          <a:p>
            <a:pPr algn="r"/>
            <a:r>
              <a:rPr lang="he-IL" dirty="0">
                <a:solidFill>
                  <a:schemeClr val="bg1"/>
                </a:solidFill>
              </a:rPr>
              <a:t>בדיקה אם זה מסוכן</a:t>
            </a:r>
          </a:p>
          <a:p>
            <a:pPr algn="r"/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3BB4F9-1B80-1597-E429-99565BF1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731522"/>
            <a:ext cx="4352662" cy="1645918"/>
          </a:xfrm>
        </p:spPr>
        <p:txBody>
          <a:bodyPr anchor="ctr"/>
          <a:lstStyle/>
          <a:p>
            <a:pPr algn="ctr" rtl="1"/>
            <a:r>
              <a:rPr lang="he-IL" sz="4600" dirty="0"/>
              <a:t>סיכום והדגמה </a:t>
            </a:r>
            <a:endParaRPr lang="en-IL" sz="460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4" b="254"/>
          <a:stretch/>
        </p:blipFill>
        <p:spPr>
          <a:xfrm>
            <a:off x="307828" y="336550"/>
            <a:ext cx="5332361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096000" y="3104277"/>
            <a:ext cx="5788171" cy="3753723"/>
          </a:xfrm>
        </p:spPr>
        <p:txBody>
          <a:bodyPr/>
          <a:lstStyle/>
          <a:p>
            <a:pPr algn="r" rtl="1"/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• </a:t>
            </a:r>
            <a:r>
              <a:rPr lang="he-IL" sz="2500" b="1" i="0" dirty="0">
                <a:solidFill>
                  <a:srgbClr val="FFFFFF"/>
                </a:solidFill>
                <a:effectLst/>
                <a:latin typeface=".SFUI-Semibold"/>
              </a:rPr>
              <a:t>סיכום: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 המערכת פועלת בצורה יציבה (</a:t>
            </a:r>
            <a:r>
              <a:rPr lang="en-US" sz="2500" b="0" i="0" dirty="0" err="1">
                <a:solidFill>
                  <a:srgbClr val="FFFFFF"/>
                </a:solidFill>
                <a:effectLst/>
                <a:latin typeface=".SFUI-Regular"/>
              </a:rPr>
              <a:t>Robus</a:t>
            </a:r>
            <a:r>
              <a:rPr lang="en-IL" sz="2500" b="0" i="0" dirty="0">
                <a:solidFill>
                  <a:srgbClr val="FFFFFF"/>
                </a:solidFill>
                <a:effectLst/>
                <a:latin typeface=".SFUI-Regular"/>
              </a:rPr>
              <a:t>t</a:t>
            </a:r>
            <a:r>
              <a:rPr lang="he-IL" sz="2500" b="0" i="0" dirty="0">
                <a:solidFill>
                  <a:srgbClr val="FFFFFF"/>
                </a:solidFill>
                <a:effectLst/>
                <a:latin typeface=".SFUI-Regular"/>
              </a:rPr>
              <a:t>) ועומדת בדרישות הביצועים.</a:t>
            </a:r>
          </a:p>
          <a:p>
            <a:pPr algn="r" rtl="1"/>
            <a:r>
              <a:rPr lang="he-IL" sz="2500" dirty="0">
                <a:solidFill>
                  <a:srgbClr val="FFFFFF"/>
                </a:solidFill>
                <a:effectLst/>
                <a:latin typeface=".AppleSystemUIFont"/>
              </a:rPr>
              <a:t>שילוב מוצלח של חומרה ותוכנה.</a:t>
            </a:r>
          </a:p>
          <a:p>
            <a:pPr algn="r" rtl="1"/>
            <a:r>
              <a:rPr lang="he-IL" sz="2500" dirty="0">
                <a:solidFill>
                  <a:srgbClr val="FFFFFF"/>
                </a:solidFill>
                <a:effectLst/>
                <a:latin typeface=".AppleSystemUIFont"/>
              </a:rPr>
              <a:t>חשיבות ניהול ה-</a:t>
            </a:r>
            <a:r>
              <a:rPr lang="en-US" sz="2500" dirty="0">
                <a:solidFill>
                  <a:srgbClr val="FFFFFF"/>
                </a:solidFill>
                <a:effectLst/>
                <a:latin typeface=".AppleSystemUIFont"/>
              </a:rPr>
              <a:t>Events </a:t>
            </a:r>
            <a:r>
              <a:rPr lang="he-IL" sz="2500" dirty="0">
                <a:solidFill>
                  <a:srgbClr val="FFFFFF"/>
                </a:solidFill>
                <a:effectLst/>
                <a:latin typeface=".AppleSystemUIFont"/>
              </a:rPr>
              <a:t>בתוכנות זמן אמת.</a:t>
            </a:r>
          </a:p>
          <a:p>
            <a:pPr algn="r" rtl="1"/>
            <a:r>
              <a:rPr lang="he-IL" sz="2500" dirty="0">
                <a:solidFill>
                  <a:srgbClr val="FFFFFF"/>
                </a:solidFill>
                <a:effectLst/>
                <a:latin typeface=".AppleSystemUIFont"/>
              </a:rPr>
              <a:t>מבט לעתיד: הוספת גרפים היסטוריים </a:t>
            </a:r>
            <a:r>
              <a:rPr lang="he-IL" sz="2500">
                <a:solidFill>
                  <a:srgbClr val="FFFFFF"/>
                </a:solidFill>
                <a:effectLst/>
                <a:latin typeface=".AppleSystemUIFont"/>
              </a:rPr>
              <a:t>ושליטה ישירות </a:t>
            </a:r>
            <a:r>
              <a:rPr lang="he-IL" sz="2500" dirty="0">
                <a:solidFill>
                  <a:srgbClr val="FFFFFF"/>
                </a:solidFill>
                <a:effectLst/>
                <a:latin typeface=".AppleSystemUIFont"/>
              </a:rPr>
              <a:t>מהאפליקציה.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IL" dirty="0"/>
              <a:t>Sara</a:t>
            </a:r>
            <a:r>
              <a:rPr lang="en-US" dirty="0"/>
              <a:t>​</a:t>
            </a:r>
            <a:r>
              <a:rPr lang="en-IL" dirty="0"/>
              <a:t> abo shikha</a:t>
            </a:r>
            <a:endParaRPr lang="en-US" dirty="0"/>
          </a:p>
          <a:p>
            <a:r>
              <a:rPr lang="he-IL" dirty="0"/>
              <a:t>0543643884</a:t>
            </a:r>
            <a:endParaRPr lang="en-US" dirty="0"/>
          </a:p>
          <a:p>
            <a:r>
              <a:rPr lang="en-US" dirty="0" err="1"/>
              <a:t>saraaboshikha@gmail.com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280</Words>
  <Application>Microsoft Office PowerPoint</Application>
  <PresentationFormat>Widescreen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.AppleSystemUIFont</vt:lpstr>
      <vt:lpstr>.SFUI-Regular</vt:lpstr>
      <vt:lpstr>.SFUI-Semibold</vt:lpstr>
      <vt:lpstr>Arial</vt:lpstr>
      <vt:lpstr>Arial Nova</vt:lpstr>
      <vt:lpstr>Biome</vt:lpstr>
      <vt:lpstr>Calibri</vt:lpstr>
      <vt:lpstr>Custom</vt:lpstr>
      <vt:lpstr>AirAware - Real-Time IoT Air Monitoring </vt:lpstr>
      <vt:lpstr>המטרה והצורך ((The Goal</vt:lpstr>
      <vt:lpstr> ארכיטקטורה טכנולוגית  (Tech Stack)  </vt:lpstr>
      <vt:lpstr>פתרון בעיות ואופטימיזציה )QA &amp; Performance(  </vt:lpstr>
      <vt:lpstr>מנגנון ההתראות ואפלקציה ((The Alert System</vt:lpstr>
      <vt:lpstr>סיכום והדגמה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dc:creator>Muhamad Abu-Shecha</dc:creator>
  <cp:lastModifiedBy>Muhamad Abu-Shecha</cp:lastModifiedBy>
  <cp:revision>7</cp:revision>
  <dcterms:created xsi:type="dcterms:W3CDTF">2026-04-22T20:44:03Z</dcterms:created>
  <dcterms:modified xsi:type="dcterms:W3CDTF">2026-04-26T13:23:13Z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